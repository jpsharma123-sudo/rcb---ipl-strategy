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724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RCB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771" y="731520"/>
            <a:ext cx="5339700" cy="51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lin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lin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77240" y="1261951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89101" y="1714889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IPL Data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SQL-driven story of RCB's 2013–2016 </a:t>
            </a:r>
            <a:r>
              <a:rPr lang="en-US" sz="16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r>
              <a:rPr lang="en-US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what the data says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road to the mega auction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31447" y="3861403"/>
            <a:ext cx="6740213" cy="0"/>
          </a:xfrm>
          <a:prstGeom prst="line">
            <a:avLst/>
          </a:prstGeom>
          <a:noFill/>
          <a:ln w="3810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931447" y="4018200"/>
            <a:ext cx="7315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: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JAIPRAKASH SHARMA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: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ipl_1.sql &amp; ipl_2.sql   |   Database: </a:t>
            </a: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RCB Logo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3897227" y="1329000"/>
            <a:ext cx="4397546" cy="4200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BEGINS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RCB has talent every season — but not a trophy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IPL's most star-studded batting line-ups, Royal Challengers Bangalore has repeatedly fielded MVP-calibre players and still finished seasons short of a title. Before the next mega auction, RCB's management needs a data-backed answer to a simple question: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649224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5943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does the ball-by-ball data actually say about where RCB is winning,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is losing, and who it should target at auction?”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answers that question using SQL analysis across </a:t>
            </a:r>
            <a:r>
              <a:rPr lang="en-US" sz="13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objective and subjective questions</a:t>
            </a: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covering team performance, player form, venue effects, and auction-ready recommendations.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60920" y="1600200"/>
            <a:ext cx="4443984" cy="3331876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/home/claude/assets_red/obj0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324" y="1600200"/>
            <a:ext cx="4690872" cy="34907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50418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wins by venue — home ground carries the team's best record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RCB Logo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3897227" y="1329000"/>
            <a:ext cx="4397546" cy="4200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SCENE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dataset,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03120" cy="1508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16352" y="1737360"/>
            <a:ext cx="2103120" cy="1508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816352" y="1828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60,223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816352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84064" y="1737360"/>
            <a:ext cx="2103120" cy="1508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84064" y="1828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84064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1737360"/>
            <a:ext cx="2103120" cy="1508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351776" y="1828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51776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84080" y="1728216"/>
            <a:ext cx="2103120" cy="1508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674352" y="192241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791829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(2013-16)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note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 lookup table lists 9 seasons (2008–2016), but the ball-by-ball, match, extras and wicket data supplied only covers Season_Id 6–9 — i.e. 2013 through 2016. No delivery-level data exists for 2008–2012 in the files provided. Every finding in this deck is scoped to 2013–2016 and flagged accordingly wherever it matters.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82712" y="61081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91656" y="5917873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2423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29900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Ball_by_Ball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0" y="32644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383133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Wicket_Taken / Extra_Runs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89520" y="41056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Dismissals and extras, linked to each delivery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467258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/ Team / Venue / Season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0" y="49469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tables for names and metadata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RCB Logo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3897227" y="1329000"/>
            <a:ext cx="4397546" cy="4200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fits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10685032" cy="4542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622469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links to a venue, season and two teams; every delivery links to a match, a striker, a bowler, and (where relevant) a wicket or an extra.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BB7521-70A6-CB62-ACAE-C85A3E2BA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425280"/>
            <a:ext cx="10685033" cy="47640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RCB Logo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3897227" y="1329000"/>
            <a:ext cx="4397546" cy="42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line">
            <a:avLst/>
          </a:prstGeom>
          <a:solidFill>
            <a:srgbClr val="000000">
              <a:alpha val="1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31089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3600" dirty="0">
                <a:solidFill>
                  <a:schemeClr val="bg1"/>
                </a:solidFill>
              </a:rPr>
              <a:t>BEYOND THE SCOREBOARD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600" dirty="0">
                <a:solidFill>
                  <a:schemeClr val="bg1"/>
                </a:solidFill>
              </a:rPr>
              <a:t>Five charts on RCB's batting, bowling, venues, and the calls that decided matches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RCB Logo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3897227" y="1329000"/>
            <a:ext cx="4397546" cy="4200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· SEASON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Batting kept improving. Bowling didn't.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0" y="2003922"/>
            <a:ext cx="5952744" cy="33987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assets_red/obj11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457" y="1874520"/>
            <a:ext cx="5534735" cy="3535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2199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RCB's runs climbed from 2,460 (2013) to a peak of 2,859 (2016) — their best batting season in the data.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09067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77240" y="2971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 taken stayed flat to declining across the same span (96 → 90), never matching the batting trend.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95935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77240" y="38404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is the only season where both lines dip together — everywhere else, one discipline compensates for the other.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82803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77240" y="4709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batting and bowling peaks never land in the same season — a strong candidate reason for strong seasons not converting into a trophy.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RCB Logo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3897227" y="1329000"/>
            <a:ext cx="4397546" cy="4200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· BATTING POWER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league's fastest scorers, 2013-2016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939250"/>
            <a:ext cx="5952744" cy="352813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assets_red/obj05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27" y="1877640"/>
            <a:ext cx="5277564" cy="32605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19672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19672" y="222199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748272" y="2103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Russell (172.8), AB de Villiers (167.9) and GJ Maxwell (163.6) top the strike-rate table (min. 200 balls faced).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19672" y="309067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748272" y="2971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the top 10 are recognised top-order power-hitters — a concentrated pool of proven finishers and openers.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19672" y="395935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748272" y="38404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de Villiers is the only player on this list already tied to RCB across these seasons — the rest represent auction targets.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19672" y="482803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748272" y="4709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list is the starting shortlist for any top-order power-hitting need.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RCB Logo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3897227" y="1329000"/>
            <a:ext cx="4397546" cy="4200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· VERSATILITY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RCB's real gap: proven all-rounders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0" y="1527048"/>
            <a:ext cx="5952744" cy="444832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assets_red/obj08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297" y="1691640"/>
            <a:ext cx="5186709" cy="4119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2199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players league-wide clear both the batting-average AND bowling-average thresholds simultaneously.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09067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77240" y="2971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Gayle, SR Watson and AD Russell sit furthest from both average lines — the safest, best-evidenced all-round picks.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95935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77240" y="38404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lines mark the league averages (19.79 runs, 1.57 wickets) — distance from both lines signals genuine versatility.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82803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77240" y="4709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shortlist directly targets RCB's bowling-depth gap without sacrificing batting strength.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RCB Logo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3897227" y="1329000"/>
            <a:ext cx="4397546" cy="4200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· HOME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Chinnaswamy is an edge — but not everywhere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5952744" cy="471532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assets_red/subj08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15" y="1691640"/>
            <a:ext cx="5379369" cy="43861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19672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19672" y="222199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748272" y="2103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wins 55.2% of matches at home (M Chinnaswamy Stadium) vs. 45.5% away — a ~10-point gap.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19672" y="309067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748272" y="2971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Chinnaswamy is also one of the league's highest-scoring venues (avg. 157.6 runs/innings) — batting-friendly conditions likely amplify RCB's strength.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19672" y="395935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748272" y="38404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away record is the larger opportunity: closing even half that gap would meaningfully change RCB's season outcomes.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19672" y="482803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748272" y="4709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selection at home should assume high-scoring conditions by default, not treat them as an exception.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RCB Logo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3897227" y="1329000"/>
            <a:ext cx="4397546" cy="4200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 · MATCH-DAY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Fielding first pays off — but only at some venues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0" y="1527048"/>
            <a:ext cx="5952744" cy="470306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assets_red/subj01_chart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065" y="1691640"/>
            <a:ext cx="5375173" cy="4373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2199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League-wide, winning the toss and fielding first wins the match 55.6% of the time, vs. 43.0% for batting first.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09067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77240" y="2971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nearly-13-point gap makes toss decision a real, data-backed lever — not just conventional wisdom.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95935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77240" y="38404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is venue-dependent: some grounds show an even stronger fielding-first bias, others are close to a coin-flip.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82803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77240" y="4709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brief the captain with venue-specific toss data before each match, not a single league-wide rule.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RCB Logo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3897227" y="1329000"/>
            <a:ext cx="4397546" cy="4200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SHOULD RCB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the mega auction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2296" cy="2331720"/>
          </a:xfrm>
          <a:prstGeom prst="rect">
            <a:avLst/>
          </a:prstGeom>
          <a:solidFill>
            <a:srgbClr val="7A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bowling depth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stayed strong every season; bowling wicket-taking was the volatile, under-performing discipline (Finding 1).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82296" cy="2331720"/>
          </a:xfrm>
          <a:prstGeom prst="rect">
            <a:avLst/>
          </a:prstGeom>
          <a:solidFill>
            <a:srgbClr val="7A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proven all-rounders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24-player versatility shortlist (Finding 3) to add bowling cover without losing batting strength.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539496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82296" cy="2331720"/>
          </a:xfrm>
          <a:prstGeom prst="rect">
            <a:avLst/>
          </a:prstGeom>
          <a:solidFill>
            <a:srgbClr val="7A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2960" y="4526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recent form over career stats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6692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form outperformed career averages for every player tested — recency is a measurably better predictor here.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343400"/>
            <a:ext cx="539496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309360" y="4343400"/>
            <a:ext cx="82296" cy="2331720"/>
          </a:xfrm>
          <a:prstGeom prst="rect">
            <a:avLst/>
          </a:prstGeom>
          <a:solidFill>
            <a:srgbClr val="7A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583680" y="4526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83680" y="52120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venue-specific playbook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56692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decisions and scoring patterns vary meaningfully by ground (Findings 4 &amp; 5) — a single league-wide rule under-performs.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RCB Logo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3897227" y="1329000"/>
            <a:ext cx="4397546" cy="4200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trophy gap is a bowling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seasons of data, RCB's batting was never the problem — 2016 alone produced the team's highest run total in the dataset. What consistently held the team back was bowling: wicket-taking that stayed flat while batting climbed, and never peaked in the same season as the batting line-up. That single, data-backed gap is the clearest lever available heading into the mega auction.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279392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auction targets from the versatility &amp; impact-score rankings (Finding 3, and the full report's Subjective Q2/Q4)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47274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venue-specific toss and scoring playbook before the season opener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413248"/>
            <a:ext cx="91440" cy="9144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" y="529437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phase-wise (powerplay/death) bowling economy as a new season-long KPI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3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RCB Logo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3897227" y="1329000"/>
            <a:ext cx="4397546" cy="42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lin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8961120" y="3657600"/>
            <a:ext cx="5486400" cy="5486400"/>
          </a:xfrm>
          <a:prstGeom prst="lin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0" y="1965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points to one lever: bowling depth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37360" y="35204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seasons of ball-by-ball evidence agree: RCB's batting is already championship-calibre. Closing the bowling gap — through the mega auction and a venue-aware match-day playbook — is the single highest-leverage step toward converting talent into a trophy.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88636" y="4709160"/>
            <a:ext cx="2011680" cy="0"/>
          </a:xfrm>
          <a:prstGeom prst="line">
            <a:avLst/>
          </a:prstGeom>
          <a:noFill/>
          <a:ln w="3810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-182880" y="5357765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7714A0C04FAE49A91FAAD3D15D3154" ma:contentTypeVersion="8" ma:contentTypeDescription="Create a new document." ma:contentTypeScope="" ma:versionID="e6403dac6aa4f1a4a84db6c9964384a9">
  <xsd:schema xmlns:xsd="http://www.w3.org/2001/XMLSchema" xmlns:xs="http://www.w3.org/2001/XMLSchema" xmlns:p="http://schemas.microsoft.com/office/2006/metadata/properties" xmlns:ns3="04349019-9294-4dfe-9ef2-a873747c1908" targetNamespace="http://schemas.microsoft.com/office/2006/metadata/properties" ma:root="true" ma:fieldsID="163037ac9062e8179ba14389ee71e1c6" ns3:_="">
    <xsd:import namespace="04349019-9294-4dfe-9ef2-a873747c190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349019-9294-4dfe-9ef2-a873747c190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C01E66-6BB3-4CA3-9ADE-FCB5A2B4F7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E641AF-EC06-4200-928A-D6FA843A75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349019-9294-4dfe-9ef2-a873747c19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0FC2B1-7EB2-4A98-BAC9-BA589AA243B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1149</Words>
  <Application>Microsoft Office PowerPoint</Application>
  <PresentationFormat>Widescreen</PresentationFormat>
  <Paragraphs>125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jp sharma</cp:lastModifiedBy>
  <cp:revision>8</cp:revision>
  <dcterms:created xsi:type="dcterms:W3CDTF">2026-07-26T07:51:27Z</dcterms:created>
  <dcterms:modified xsi:type="dcterms:W3CDTF">2026-07-27T18:34:20Z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0x010100DD7714A0C04FAE49A91FAAD3D15D3154</vt:lpwstr>
  </property>
</Properties>
</file>